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7"/>
    <p:sldId id="269" r:id="rId20"/>
    <p:sldId id="266" r:id="rId12"/>
    <p:sldId id="262" r:id="rId8"/>
    <p:sldId id="268" r:id="rId19"/>
    <p:sldId id="264" r:id="rId10"/>
    <p:sldId id="265" r:id="rId11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50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14" Type="http://schemas.openxmlformats.org/officeDocument/2006/relationships/notesMaster" Target="notesMasters/notesMaster1.xml"/>  <Relationship Id="rId19" Type="http://schemas.openxmlformats.org/officeDocument/2006/relationships/slide" Target="slides/slide13.xml"/>
  <Relationship Id="rId20" Type="http://schemas.openxmlformats.org/officeDocument/2006/relationships/slide" Target="slides/slide14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5834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/home/claude/lostfound-ppt/assets/klh_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" y="2875494"/>
            <a:ext cx="3063240" cy="1107012"/>
          </a:xfrm>
          <a:prstGeom prst="rect">
            <a:avLst/>
          </a:prstGeom>
        </p:spPr>
      </p:pic>
      <p:sp>
        <p:nvSpPr>
          <p:cNvPr id="50" name="Shape Review Badge"/>
          <p:cNvSpPr/>
          <p:nvPr/>
        </p:nvSpPr>
        <p:spPr>
          <a:xfrm>
            <a:off x="10041695" y="411480"/>
            <a:ext cx="1800000" cy="480000"/>
          </a:xfrm>
          <a:prstGeom prst="roundRect">
            <a:avLst>
              <a:gd name="adj" fmla="val 16000"/>
            </a:avLst>
          </a:prstGeom>
          <a:solidFill>
            <a:srgbClr val="D99A2B"/>
          </a:solidFill>
          <a:ln/>
        </p:spPr>
      </p:sp>
      <p:sp>
        <p:nvSpPr>
          <p:cNvPr id="51" name="Text Review Badge"/>
          <p:cNvSpPr txBox="1"/>
          <p:nvPr/>
        </p:nvSpPr>
        <p:spPr>
          <a:xfrm>
            <a:off x="10041695" y="411480"/>
            <a:ext cx="180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- 2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480560" y="685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 UNIVERSITY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480560" y="987552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of Artificial Intelligence and Data Science and Computer Science and Information Technology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480560" y="1828800"/>
            <a:ext cx="7223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Lost &amp; Found Items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Tracker for Campus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34290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centralized web platform to report, search, track and recover lost belongings across campus.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480560" y="420624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F3A5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480560" y="4206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TEAM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48463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Lead:  </a:t>
            </a:r>
            <a:r>
              <a:rPr lang="en-US" sz="145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Kavi Krishna  </a:t>
            </a:r>
            <a:r>
              <a:rPr lang="en-US" sz="1450" i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(2520080021)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52852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Member:  </a:t>
            </a:r>
            <a:r>
              <a:rPr lang="en-US" sz="145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Hemanth  </a:t>
            </a:r>
            <a:r>
              <a:rPr lang="en-US" sz="1450" i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(25230090074)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572414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Member:  </a:t>
            </a:r>
            <a:r>
              <a:rPr lang="en-US" sz="145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Prajwal  </a:t>
            </a:r>
            <a:r>
              <a:rPr lang="en-US" sz="1450" i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(2520080017)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52" name="Shape 50"/>
          <p:cNvSpPr/>
          <p:nvPr/>
        </p:nvSpPr>
        <p:spPr>
          <a:xfrm>
            <a:off x="548640" y="411480"/>
            <a:ext cx="11094415" cy="749808"/>
          </a:xfrm>
          <a:prstGeom prst="roundRect">
            <a:avLst>
              <a:gd name="adj" fmla="val 10667"/>
            </a:avLst>
          </a:prstGeom>
          <a:solidFill>
            <a:srgbClr val="1F3A5F"/>
          </a:solidFill>
          <a:ln/>
          <a:effectLst>
            <a:outerShdw blurRad="76200" dist="38100" dir="5400000" algn="bl" rotWithShape="0">
              <a:srgbClr val="3A0C0D">
                <a:alpha val="35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>
            <a:off x="548640" y="4114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2400" dirty="0"/>
          </a:p>
        </p:txBody>
      </p:sp>
      <p:sp>
        <p:nvSpPr>
          <p:cNvPr id="54" name="Text 52"/>
          <p:cNvSpPr txBox="1"/>
          <p:nvPr/>
        </p:nvSpPr>
        <p:spPr>
          <a:xfrm>
            <a:off x="822960" y="1508760"/>
            <a:ext cx="10546080" cy="4571999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254000" indent="-2540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and Software Requirements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800" dirty="0"/>
          </a:p>
        </p:txBody>
      </p:sp>
      <p:pic>
        <p:nvPicPr>
          <p:cNvPr id="55" name="Image 0" descr="/home/claude/lostfound-ppt/assets/klh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09005"/>
            <a:ext cx="868680" cy="2649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1480"/>
            <a:ext cx="11094415" cy="749808"/>
          </a:xfrm>
          <a:prstGeom prst="roundRect">
            <a:avLst>
              <a:gd name="adj" fmla="val 9756"/>
            </a:avLst>
          </a:prstGeom>
          <a:solidFill>
            <a:srgbClr val="1F3A5F"/>
          </a:solidFill>
          <a:ln/>
          <a:effectLst>
            <a:outerShdw blurRad="76200" dist="38100" dir="5400000" algn="bl" rotWithShape="0">
              <a:srgbClr val="3A0C0D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684203" y="6368796"/>
            <a:ext cx="64008" cy="64008"/>
          </a:xfrm>
          <a:prstGeom prst="ellipse">
            <a:avLst/>
          </a:prstGeom>
          <a:solidFill>
            <a:srgbClr val="22303F">
              <a:alpha val="5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706590" y="6397492"/>
            <a:ext cx="62106" cy="62106"/>
          </a:xfrm>
          <a:prstGeom prst="ellipse">
            <a:avLst/>
          </a:prstGeom>
          <a:solidFill>
            <a:srgbClr val="22303F">
              <a:alpha val="53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97869" y="6442584"/>
            <a:ext cx="60204" cy="60204"/>
          </a:xfrm>
          <a:prstGeom prst="ellipse">
            <a:avLst/>
          </a:prstGeom>
          <a:solidFill>
            <a:srgbClr val="22303F">
              <a:alpha val="51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649310" y="6479248"/>
            <a:ext cx="58302" cy="58302"/>
          </a:xfrm>
          <a:prstGeom prst="ellipse">
            <a:avLst/>
          </a:prstGeom>
          <a:solidFill>
            <a:srgbClr val="22303F">
              <a:alpha val="49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72443" y="6481300"/>
            <a:ext cx="56400" cy="56400"/>
          </a:xfrm>
          <a:prstGeom prst="ellipse">
            <a:avLst/>
          </a:prstGeom>
          <a:solidFill>
            <a:srgbClr val="22303F">
              <a:alpha val="47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96590" y="6433630"/>
            <a:ext cx="54498" cy="54498"/>
          </a:xfrm>
          <a:prstGeom prst="ellipse">
            <a:avLst/>
          </a:prstGeom>
          <a:solidFill>
            <a:srgbClr val="22303F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458292" y="6341108"/>
            <a:ext cx="52596" cy="52596"/>
          </a:xfrm>
          <a:prstGeom prst="ellipse">
            <a:avLst/>
          </a:prstGeom>
          <a:solidFill>
            <a:srgbClr val="22303F">
              <a:alpha val="43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486358" y="6230004"/>
            <a:ext cx="50694" cy="50694"/>
          </a:xfrm>
          <a:prstGeom prst="ellipse">
            <a:avLst/>
          </a:prstGeom>
          <a:solidFill>
            <a:srgbClr val="22303F">
              <a:alpha val="41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588173" y="6140626"/>
            <a:ext cx="48792" cy="48792"/>
          </a:xfrm>
          <a:prstGeom prst="ellipse">
            <a:avLst/>
          </a:prstGeom>
          <a:solidFill>
            <a:srgbClr val="22303F">
              <a:alpha val="39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742895" y="6113252"/>
            <a:ext cx="46890" cy="46890"/>
          </a:xfrm>
          <a:prstGeom prst="ellipse">
            <a:avLst/>
          </a:prstGeom>
          <a:solidFill>
            <a:srgbClr val="22303F">
              <a:alpha val="37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904913" y="6172143"/>
            <a:ext cx="44988" cy="44988"/>
          </a:xfrm>
          <a:prstGeom prst="ellipse">
            <a:avLst/>
          </a:prstGeom>
          <a:solidFill>
            <a:srgbClr val="22303F">
              <a:alpha val="3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2017381" y="6313600"/>
            <a:ext cx="43087" cy="43087"/>
          </a:xfrm>
          <a:prstGeom prst="ellipse">
            <a:avLst/>
          </a:prstGeom>
          <a:solidFill>
            <a:srgbClr val="22303F">
              <a:alpha val="33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2031792" y="6503022"/>
            <a:ext cx="41185" cy="41185"/>
          </a:xfrm>
          <a:prstGeom prst="ellipse">
            <a:avLst/>
          </a:prstGeom>
          <a:solidFill>
            <a:srgbClr val="22303F">
              <a:alpha val="31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926987" y="6683051"/>
            <a:ext cx="39283" cy="39283"/>
          </a:xfrm>
          <a:prstGeom prst="ellipse">
            <a:avLst/>
          </a:prstGeom>
          <a:solidFill>
            <a:srgbClr val="22303F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20568" y="6791019"/>
            <a:ext cx="37381" cy="37381"/>
          </a:xfrm>
          <a:prstGeom prst="ellipse">
            <a:avLst/>
          </a:prstGeom>
          <a:solidFill>
            <a:srgbClr val="22303F">
              <a:alpha val="26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467804" y="6780399"/>
            <a:ext cx="35479" cy="35479"/>
          </a:xfrm>
          <a:prstGeom prst="ellipse">
            <a:avLst/>
          </a:prstGeom>
          <a:solidFill>
            <a:srgbClr val="22303F">
              <a:alpha val="2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247101" y="6639027"/>
            <a:ext cx="33577" cy="33577"/>
          </a:xfrm>
          <a:prstGeom prst="ellipse">
            <a:avLst/>
          </a:prstGeom>
          <a:solidFill>
            <a:srgbClr val="22303F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135806" y="6397385"/>
            <a:ext cx="31675" cy="31675"/>
          </a:xfrm>
          <a:prstGeom prst="ellipse">
            <a:avLst/>
          </a:prstGeom>
          <a:solidFill>
            <a:srgbClr val="22303F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183790" y="6123067"/>
            <a:ext cx="29773" cy="29773"/>
          </a:xfrm>
          <a:prstGeom prst="ellipse">
            <a:avLst/>
          </a:prstGeom>
          <a:solidFill>
            <a:srgbClr val="22303F">
              <a:alpha val="1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393695" y="5902043"/>
            <a:ext cx="27871" cy="27871"/>
          </a:xfrm>
          <a:prstGeom prst="ellipse">
            <a:avLst/>
          </a:prstGeom>
          <a:solidFill>
            <a:srgbClr val="22303F">
              <a:alpha val="16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715178" y="5811858"/>
            <a:ext cx="25969" cy="25969"/>
          </a:xfrm>
          <a:prstGeom prst="ellipse">
            <a:avLst/>
          </a:prstGeom>
          <a:solidFill>
            <a:srgbClr val="22303F">
              <a:alpha val="1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2056363" y="5895135"/>
            <a:ext cx="24067" cy="24067"/>
          </a:xfrm>
          <a:prstGeom prst="ellipse">
            <a:avLst/>
          </a:prstGeom>
          <a:solidFill>
            <a:srgbClr val="22303F">
              <a:alpha val="1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2310134" y="6142259"/>
            <a:ext cx="22165" cy="22165"/>
          </a:xfrm>
          <a:prstGeom prst="ellipse">
            <a:avLst/>
          </a:prstGeom>
          <a:solidFill>
            <a:srgbClr val="22303F">
              <a:alpha val="1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2387759" y="6489799"/>
            <a:ext cx="20263" cy="20263"/>
          </a:xfrm>
          <a:prstGeom prst="ellipse">
            <a:avLst/>
          </a:prstGeom>
          <a:solidFill>
            <a:srgbClr val="22303F">
              <a:alpha val="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2249328" y="6836450"/>
            <a:ext cx="18361" cy="18361"/>
          </a:xfrm>
          <a:prstGeom prst="ellipse">
            <a:avLst/>
          </a:prstGeom>
          <a:solidFill>
            <a:srgbClr val="22303F">
              <a:alpha val="6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920726" y="7072634"/>
            <a:ext cx="16459" cy="16459"/>
          </a:xfrm>
          <a:prstGeom prst="ellipse">
            <a:avLst/>
          </a:prstGeom>
          <a:solidFill>
            <a:srgbClr val="22303F">
              <a:alpha val="4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2960" y="1417320"/>
            <a:ext cx="10545775" cy="4846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l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Lost and Found Items Tracker for Campus is a web-based system designed to provide an efficient and organized way for students, faculty, and staff to report, search, track, and recover lost and found items within the campus.</a:t>
            </a:r>
            <a:endParaRPr lang="en-US" sz="1500" dirty="0"/>
          </a:p>
          <a:p>
            <a:pPr marL="0" indent="0" algn="l">
              <a:lnSpc>
                <a:spcPct val="118000"/>
              </a:lnSpc>
              <a:spcAft>
                <a:spcPts val="1000"/>
              </a:spcAft>
              <a:buNone/>
            </a:pPr>
            <a:endParaRPr lang="en-US" sz="1500" dirty="0"/>
          </a:p>
          <a:p>
            <a:pPr marL="0" indent="0" algn="l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can securely register and log in, report items with details such as name, category, description, date, time and location, and upload a photo. An interactive campus map lets users pin the exact location an item was lost or found — across academic blocks, the library, canteen, hostels, auditorium and sports facilities.</a:t>
            </a:r>
            <a:endParaRPr lang="en-US" sz="1500" dirty="0"/>
          </a:p>
          <a:p>
            <a:pPr marL="0" indent="0" algn="l">
              <a:lnSpc>
                <a:spcPct val="118000"/>
              </a:lnSpc>
              <a:spcAft>
                <a:spcPts val="1000"/>
              </a:spcAft>
              <a:buNone/>
            </a:pPr>
            <a:endParaRPr lang="en-US" sz="1500" dirty="0"/>
          </a:p>
          <a:p>
            <a:pPr marL="0" indent="0" algn="l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matching mechanism compares category, description, date and location to surface likely lost-found pairs automatically, while an admin dashboard lets authorized staff verify claims and update item status from lost or found to returned.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pic>
        <p:nvPicPr>
          <p:cNvPr id="33" name="Image 0" descr="/home/claude/lostfound-ppt/assets/klh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09005"/>
            <a:ext cx="868680" cy="2649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1480"/>
            <a:ext cx="11094415" cy="749808"/>
          </a:xfrm>
          <a:prstGeom prst="roundRect">
            <a:avLst>
              <a:gd name="adj" fmla="val 9756"/>
            </a:avLst>
          </a:prstGeom>
          <a:solidFill>
            <a:srgbClr val="1F3A5F"/>
          </a:solidFill>
          <a:ln/>
          <a:effectLst>
            <a:outerShdw blurRad="76200" dist="38100" dir="5400000" algn="bl" rotWithShape="0">
              <a:srgbClr val="3A0C0D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508760"/>
            <a:ext cx="10546080" cy="4846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campus deals with a constant, quiet flow of lost items — ID cards, bottles, backpacks, electronics — that traditionally rely on notice boards or word of mouth.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registers and scattered social media groups are unsearchable, poorly organized, and easy for a genuine match to slip through.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student populations and the number of valuable personal devices grow, the cost of an inefficient recovery process grows with it.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“Fetch” reframes this as a centralized, searchable, location-aware digital platform — available to the whole campus community, all the time.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pic>
        <p:nvPicPr>
          <p:cNvPr id="12" name="Image 0" descr="/home/claude/lostfound-ppt/assets/klh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09005"/>
            <a:ext cx="868680" cy="2649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1480"/>
            <a:ext cx="11094415" cy="749808"/>
          </a:xfrm>
          <a:prstGeom prst="roundRect">
            <a:avLst>
              <a:gd name="adj" fmla="val 9756"/>
            </a:avLst>
          </a:prstGeom>
          <a:solidFill>
            <a:srgbClr val="1F3A5F"/>
          </a:solidFill>
          <a:ln/>
          <a:effectLst>
            <a:outerShdw blurRad="76200" dist="38100" dir="5400000" algn="bl" rotWithShape="0">
              <a:srgbClr val="3A0C0D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10546080" cy="170000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1800000"/>
            <a:ext cx="981500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lost-and-found handling today is manual, decentralized and lacks location context or verification — leading to low recovery rates and wasted time for everyone involved.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pic>
        <p:nvPicPr>
          <p:cNvPr id="12" name="Image 0" descr="/home/claude/lostfound-ppt/assets/klh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09005"/>
            <a:ext cx="868680" cy="2649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1480"/>
            <a:ext cx="11094415" cy="749808"/>
          </a:xfrm>
          <a:prstGeom prst="roundRect">
            <a:avLst>
              <a:gd name="adj" fmla="val 9756"/>
            </a:avLst>
          </a:prstGeom>
          <a:solidFill>
            <a:srgbClr val="1F3A5F"/>
          </a:solidFill>
          <a:ln/>
          <a:effectLst>
            <a:outerShdw blurRad="76200" dist="38100" dir="5400000" algn="bl" rotWithShape="0">
              <a:srgbClr val="3A0C0D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and Software Requirements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51663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737360"/>
            <a:ext cx="2194560" cy="502920"/>
          </a:xfrm>
          <a:prstGeom prst="roundRect">
            <a:avLst>
              <a:gd name="adj" fmla="val 50909"/>
            </a:avLst>
          </a:prstGeom>
          <a:solidFill>
            <a:srgbClr val="1F3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468880"/>
            <a:ext cx="4617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Desktop, laptop or smartphone with a modern web browser</a:t>
            </a:r>
            <a:endParaRPr lang="en-US" sz="1350" dirty="0"/>
          </a:p>
          <a:p>
            <a:pPr marL="203200" indent="-203200"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 4 GB RAM for smooth local development</a:t>
            </a:r>
            <a:endParaRPr lang="en-US" sz="1350" dirty="0"/>
          </a:p>
          <a:p>
            <a:pPr marL="203200" indent="-203200"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 internet or campus Wi-Fi connectivity</a:t>
            </a:r>
            <a:endParaRPr lang="en-US" sz="1350" dirty="0"/>
          </a:p>
          <a:p>
            <a:pPr marL="203200" indent="-203200"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 (optional) for capturing item photos</a:t>
            </a:r>
            <a:endParaRPr lang="en-US" sz="1350" dirty="0"/>
          </a:p>
          <a:p>
            <a:pPr marL="203200" indent="-203200"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standard web server / hosting environment for deployment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99632" y="1463040"/>
            <a:ext cx="51663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1737360"/>
            <a:ext cx="2194560" cy="502920"/>
          </a:xfrm>
          <a:prstGeom prst="roundRect">
            <a:avLst>
              <a:gd name="adj" fmla="val 50909"/>
            </a:avLst>
          </a:prstGeom>
          <a:solidFill>
            <a:srgbClr val="1F3A5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3952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2468880"/>
            <a:ext cx="4617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HTML5, CSS3 and JavaScript for the client interface</a:t>
            </a:r>
            <a:endParaRPr lang="en-US" sz="1350" dirty="0"/>
          </a:p>
          <a:p>
            <a:pPr marL="203200" indent="-203200"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browser: Chrome, Firefox or Edge</a:t>
            </a:r>
            <a:endParaRPr lang="en-US" sz="1350" dirty="0"/>
          </a:p>
          <a:p>
            <a:pPr marL="203200" indent="-203200"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Studio Code as the development environment</a:t>
            </a:r>
            <a:endParaRPr lang="en-US" sz="1350" dirty="0"/>
          </a:p>
          <a:p>
            <a:pPr marL="203200" indent="-203200"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for version control and collaboration</a:t>
            </a:r>
            <a:endParaRPr lang="en-US" sz="1350" dirty="0"/>
          </a:p>
          <a:p>
            <a:pPr marL="203200" indent="-203200"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Backend: Node.js / MongoDB (replacing prototype browser local storage)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pic>
        <p:nvPicPr>
          <p:cNvPr id="14" name="Image 0" descr="/home/claude/lostfound-ppt/assets/klh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09005"/>
            <a:ext cx="868680" cy="2649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1480"/>
            <a:ext cx="11094415" cy="749808"/>
          </a:xfrm>
          <a:prstGeom prst="roundRect">
            <a:avLst>
              <a:gd name="adj" fmla="val 9756"/>
            </a:avLst>
          </a:prstGeom>
          <a:solidFill>
            <a:srgbClr val="1F3A5F"/>
          </a:solidFill>
          <a:ln/>
          <a:effectLst>
            <a:outerShdw blurRad="76200" dist="38100" dir="5400000" algn="bl" rotWithShape="0">
              <a:srgbClr val="3A0C0D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684203" y="6368796"/>
            <a:ext cx="64008" cy="64008"/>
          </a:xfrm>
          <a:prstGeom prst="ellipse">
            <a:avLst/>
          </a:prstGeom>
          <a:solidFill>
            <a:srgbClr val="22303F">
              <a:alpha val="5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706590" y="6397492"/>
            <a:ext cx="62106" cy="62106"/>
          </a:xfrm>
          <a:prstGeom prst="ellipse">
            <a:avLst/>
          </a:prstGeom>
          <a:solidFill>
            <a:srgbClr val="22303F">
              <a:alpha val="53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97869" y="6442584"/>
            <a:ext cx="60204" cy="60204"/>
          </a:xfrm>
          <a:prstGeom prst="ellipse">
            <a:avLst/>
          </a:prstGeom>
          <a:solidFill>
            <a:srgbClr val="22303F">
              <a:alpha val="51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649310" y="6479248"/>
            <a:ext cx="58302" cy="58302"/>
          </a:xfrm>
          <a:prstGeom prst="ellipse">
            <a:avLst/>
          </a:prstGeom>
          <a:solidFill>
            <a:srgbClr val="22303F">
              <a:alpha val="49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72443" y="6481300"/>
            <a:ext cx="56400" cy="56400"/>
          </a:xfrm>
          <a:prstGeom prst="ellipse">
            <a:avLst/>
          </a:prstGeom>
          <a:solidFill>
            <a:srgbClr val="22303F">
              <a:alpha val="47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96590" y="6433630"/>
            <a:ext cx="54498" cy="54498"/>
          </a:xfrm>
          <a:prstGeom prst="ellipse">
            <a:avLst/>
          </a:prstGeom>
          <a:solidFill>
            <a:srgbClr val="22303F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458292" y="6341108"/>
            <a:ext cx="52596" cy="52596"/>
          </a:xfrm>
          <a:prstGeom prst="ellipse">
            <a:avLst/>
          </a:prstGeom>
          <a:solidFill>
            <a:srgbClr val="22303F">
              <a:alpha val="43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486358" y="6230004"/>
            <a:ext cx="50694" cy="50694"/>
          </a:xfrm>
          <a:prstGeom prst="ellipse">
            <a:avLst/>
          </a:prstGeom>
          <a:solidFill>
            <a:srgbClr val="22303F">
              <a:alpha val="41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588173" y="6140626"/>
            <a:ext cx="48792" cy="48792"/>
          </a:xfrm>
          <a:prstGeom prst="ellipse">
            <a:avLst/>
          </a:prstGeom>
          <a:solidFill>
            <a:srgbClr val="22303F">
              <a:alpha val="39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742895" y="6113252"/>
            <a:ext cx="46890" cy="46890"/>
          </a:xfrm>
          <a:prstGeom prst="ellipse">
            <a:avLst/>
          </a:prstGeom>
          <a:solidFill>
            <a:srgbClr val="22303F">
              <a:alpha val="37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904913" y="6172143"/>
            <a:ext cx="44988" cy="44988"/>
          </a:xfrm>
          <a:prstGeom prst="ellipse">
            <a:avLst/>
          </a:prstGeom>
          <a:solidFill>
            <a:srgbClr val="22303F">
              <a:alpha val="3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2017381" y="6313600"/>
            <a:ext cx="43087" cy="43087"/>
          </a:xfrm>
          <a:prstGeom prst="ellipse">
            <a:avLst/>
          </a:prstGeom>
          <a:solidFill>
            <a:srgbClr val="22303F">
              <a:alpha val="33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2031792" y="6503022"/>
            <a:ext cx="41185" cy="41185"/>
          </a:xfrm>
          <a:prstGeom prst="ellipse">
            <a:avLst/>
          </a:prstGeom>
          <a:solidFill>
            <a:srgbClr val="22303F">
              <a:alpha val="31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926987" y="6683051"/>
            <a:ext cx="39283" cy="39283"/>
          </a:xfrm>
          <a:prstGeom prst="ellipse">
            <a:avLst/>
          </a:prstGeom>
          <a:solidFill>
            <a:srgbClr val="22303F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20568" y="6791019"/>
            <a:ext cx="37381" cy="37381"/>
          </a:xfrm>
          <a:prstGeom prst="ellipse">
            <a:avLst/>
          </a:prstGeom>
          <a:solidFill>
            <a:srgbClr val="22303F">
              <a:alpha val="26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467804" y="6780399"/>
            <a:ext cx="35479" cy="35479"/>
          </a:xfrm>
          <a:prstGeom prst="ellipse">
            <a:avLst/>
          </a:prstGeom>
          <a:solidFill>
            <a:srgbClr val="22303F">
              <a:alpha val="2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247101" y="6639027"/>
            <a:ext cx="33577" cy="33577"/>
          </a:xfrm>
          <a:prstGeom prst="ellipse">
            <a:avLst/>
          </a:prstGeom>
          <a:solidFill>
            <a:srgbClr val="22303F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135806" y="6397385"/>
            <a:ext cx="31675" cy="31675"/>
          </a:xfrm>
          <a:prstGeom prst="ellipse">
            <a:avLst/>
          </a:prstGeom>
          <a:solidFill>
            <a:srgbClr val="22303F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183790" y="6123067"/>
            <a:ext cx="29773" cy="29773"/>
          </a:xfrm>
          <a:prstGeom prst="ellipse">
            <a:avLst/>
          </a:prstGeom>
          <a:solidFill>
            <a:srgbClr val="22303F">
              <a:alpha val="1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393695" y="5902043"/>
            <a:ext cx="27871" cy="27871"/>
          </a:xfrm>
          <a:prstGeom prst="ellipse">
            <a:avLst/>
          </a:prstGeom>
          <a:solidFill>
            <a:srgbClr val="22303F">
              <a:alpha val="16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715178" y="5811858"/>
            <a:ext cx="25969" cy="25969"/>
          </a:xfrm>
          <a:prstGeom prst="ellipse">
            <a:avLst/>
          </a:prstGeom>
          <a:solidFill>
            <a:srgbClr val="22303F">
              <a:alpha val="1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2056363" y="5895135"/>
            <a:ext cx="24067" cy="24067"/>
          </a:xfrm>
          <a:prstGeom prst="ellipse">
            <a:avLst/>
          </a:prstGeom>
          <a:solidFill>
            <a:srgbClr val="22303F">
              <a:alpha val="1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2310134" y="6142259"/>
            <a:ext cx="22165" cy="22165"/>
          </a:xfrm>
          <a:prstGeom prst="ellipse">
            <a:avLst/>
          </a:prstGeom>
          <a:solidFill>
            <a:srgbClr val="22303F">
              <a:alpha val="1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2387759" y="6489799"/>
            <a:ext cx="20263" cy="20263"/>
          </a:xfrm>
          <a:prstGeom prst="ellipse">
            <a:avLst/>
          </a:prstGeom>
          <a:solidFill>
            <a:srgbClr val="22303F">
              <a:alpha val="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2249328" y="6836450"/>
            <a:ext cx="18361" cy="18361"/>
          </a:xfrm>
          <a:prstGeom prst="ellipse">
            <a:avLst/>
          </a:prstGeom>
          <a:solidFill>
            <a:srgbClr val="22303F">
              <a:alpha val="6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920726" y="7072634"/>
            <a:ext cx="16459" cy="16459"/>
          </a:xfrm>
          <a:prstGeom prst="ellipse">
            <a:avLst/>
          </a:prstGeom>
          <a:solidFill>
            <a:srgbClr val="22303F">
              <a:alpha val="4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2960" y="1463040"/>
            <a:ext cx="10545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Campus Lost &amp; Found Tracker replaces a slow, manual, easy-to-miss process with a single centralized platform — combining reporting, an interactive campus map, automated matching and admin oversight to meaningfully raise the odds that a lost item finds its way back.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822960" y="3200400"/>
            <a:ext cx="321045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342900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4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4343400"/>
            <a:ext cx="2753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locations mapped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490618" y="3200400"/>
            <a:ext cx="321045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490618" y="342900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37" name="Text 35"/>
          <p:cNvSpPr txBox="1"/>
          <p:nvPr/>
        </p:nvSpPr>
        <p:spPr>
          <a:xfrm>
            <a:off x="4719218" y="4343400"/>
            <a:ext cx="2753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matching engine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158277" y="3200400"/>
            <a:ext cx="321045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158277" y="342900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40" name="Text 38"/>
          <p:cNvSpPr txBox="1"/>
          <p:nvPr/>
        </p:nvSpPr>
        <p:spPr>
          <a:xfrm>
            <a:off x="8386877" y="4343400"/>
            <a:ext cx="2753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roles &amp; workflows covered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pic>
        <p:nvPicPr>
          <p:cNvPr id="42" name="Image 0" descr="/home/claude/lostfound-ppt/assets/klh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09005"/>
            <a:ext cx="868680" cy="2649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1480"/>
            <a:ext cx="11094415" cy="749808"/>
          </a:xfrm>
          <a:prstGeom prst="roundRect">
            <a:avLst>
              <a:gd name="adj" fmla="val 9756"/>
            </a:avLst>
          </a:prstGeom>
          <a:solidFill>
            <a:srgbClr val="1F3A5F"/>
          </a:solidFill>
          <a:ln/>
          <a:effectLst>
            <a:outerShdw blurRad="76200" dist="38100" dir="5400000" algn="bl" rotWithShape="0">
              <a:srgbClr val="3A0C0D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22960" y="1508760"/>
            <a:ext cx="3301898" cy="198882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1737360"/>
            <a:ext cx="384048" cy="384048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1691640"/>
            <a:ext cx="2387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alerts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286000"/>
            <a:ext cx="2844698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or email notifications the moment a likely match is found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44898" y="1508760"/>
            <a:ext cx="3301898" cy="198882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73498" y="1737360"/>
            <a:ext cx="384048" cy="384048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73498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176418" y="1691640"/>
            <a:ext cx="2387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mobile app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673498" y="2286000"/>
            <a:ext cx="2844698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Android/iOS companion app for faster on-the-go reporting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66837" y="1508760"/>
            <a:ext cx="3301898" cy="198882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95437" y="1737360"/>
            <a:ext cx="384048" cy="384048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95437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798357" y="1691640"/>
            <a:ext cx="2387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QR-code tagging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295437" y="2286000"/>
            <a:ext cx="2844698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 QR tags on valuables for instant identification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633929" y="3817620"/>
            <a:ext cx="3301898" cy="198882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62529" y="4046220"/>
            <a:ext cx="384048" cy="384048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862529" y="40462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365449" y="4000500"/>
            <a:ext cx="2387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 card integration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862529" y="4594860"/>
            <a:ext cx="2844698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claimants against campus ID records automatically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55867" y="3817620"/>
            <a:ext cx="3301898" cy="198882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84467" y="4046220"/>
            <a:ext cx="384048" cy="384048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84467" y="40462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987387" y="4000500"/>
            <a:ext cx="2387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image matching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484467" y="4594860"/>
            <a:ext cx="2844698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image recognition to strengthen the matching engine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pic>
        <p:nvPicPr>
          <p:cNvPr id="36" name="Image 0" descr="/home/claude/lostfound-ppt/assets/klh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09005"/>
            <a:ext cx="868680" cy="2649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1480"/>
            <a:ext cx="11094415" cy="749808"/>
          </a:xfrm>
          <a:prstGeom prst="roundRect">
            <a:avLst>
              <a:gd name="adj" fmla="val 9756"/>
            </a:avLst>
          </a:prstGeom>
          <a:solidFill>
            <a:srgbClr val="1F3A5F"/>
          </a:solidFill>
          <a:ln/>
          <a:effectLst>
            <a:outerShdw blurRad="76200" dist="38100" dir="5400000" algn="bl" rotWithShape="0">
              <a:srgbClr val="3A0C0D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35" name="Page Number"/>
          <p:cNvSpPr txBox="1"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101" name="Box Body 1"/>
          <p:cNvSpPr/>
          <p:nvPr/>
        </p:nvSpPr>
        <p:spPr>
          <a:xfrm>
            <a:off x="548640" y="2860000"/>
            <a:ext cx="23986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5DDE8"/>
            </a:solidFill>
          </a:ln>
        </p:spPr>
        <p:txBody>
          <a:bodyPr wrap="square" lIns="137160" tIns="91440" rIns="137160" bIns="9144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 &amp; Staff</a:t>
            </a: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</a:p>
        </p:txBody>
      </p:sp>
      <p:sp>
        <p:nvSpPr>
          <p:cNvPr id="102" name="Box Header 1"/>
          <p:cNvSpPr/>
          <p:nvPr/>
        </p:nvSpPr>
        <p:spPr>
          <a:xfrm>
            <a:off x="548640" y="2000000"/>
            <a:ext cx="2398600" cy="760000"/>
          </a:xfrm>
          <a:prstGeom prst="roundRect">
            <a:avLst>
              <a:gd name="adj" fmla="val 14000"/>
            </a:avLst>
          </a:prstGeom>
          <a:solidFill>
            <a:srgbClr val="1F3A5F"/>
          </a:solidFill>
          <a:ln>
            <a:noFill/>
          </a:ln>
        </p:spPr>
        <p:txBody>
          <a:bodyPr wrap="square" lIns="137160" tIns="91440" rIns="137160" bIns="9144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D5D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community</a:t>
            </a:r>
          </a:p>
        </p:txBody>
      </p:sp>
      <p:sp>
        <p:nvSpPr>
          <p:cNvPr id="103" name="Arrow 1"/>
          <p:cNvSpPr/>
          <p:nvPr/>
        </p:nvSpPr>
        <p:spPr>
          <a:xfrm>
            <a:off x="2997240" y="4010000"/>
            <a:ext cx="400000" cy="200000"/>
          </a:xfrm>
          <a:prstGeom prst="leftRightArrow">
            <a:avLst/>
          </a:prstGeom>
          <a:solidFill>
            <a:srgbClr val="D99A2B"/>
          </a:solidFill>
          <a:ln>
            <a:noFill/>
          </a:ln>
        </p:spPr>
        <p:txBody>
          <a:bodyPr wrap="square" lIns="137160" tIns="91440" rIns="137160" bIns="91440" rtlCol="0" anchor="ctr"/>
          <a:lstStyle/>
          <a:p>
            <a:endParaRPr lang="en-US"/>
          </a:p>
        </p:txBody>
      </p:sp>
      <p:sp>
        <p:nvSpPr>
          <p:cNvPr id="104" name="Box Body 2"/>
          <p:cNvSpPr/>
          <p:nvPr/>
        </p:nvSpPr>
        <p:spPr>
          <a:xfrm>
            <a:off x="3447240" y="2860000"/>
            <a:ext cx="23986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5DDE8"/>
            </a:solidFill>
          </a:ln>
        </p:spPr>
        <p:txBody>
          <a:bodyPr wrap="square" lIns="137160" tIns="91440" rIns="137160" bIns="9144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item form</a:t>
            </a: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campus map</a:t>
            </a: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&amp; filter views</a:t>
            </a: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</a:p>
        </p:txBody>
      </p:sp>
      <p:sp>
        <p:nvSpPr>
          <p:cNvPr id="105" name="Box Header 2"/>
          <p:cNvSpPr/>
          <p:nvPr/>
        </p:nvSpPr>
        <p:spPr>
          <a:xfrm>
            <a:off x="3447240" y="2000000"/>
            <a:ext cx="2398600" cy="760000"/>
          </a:xfrm>
          <a:prstGeom prst="roundRect">
            <a:avLst>
              <a:gd name="adj" fmla="val 14000"/>
            </a:avLst>
          </a:prstGeom>
          <a:solidFill>
            <a:srgbClr val="1F3A5F"/>
          </a:solidFill>
          <a:ln>
            <a:noFill/>
          </a:ln>
        </p:spPr>
        <p:txBody>
          <a:bodyPr wrap="square" lIns="137160" tIns="91440" rIns="137160" bIns="9144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D5D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 · CSS3 · JavaScript</a:t>
            </a:r>
          </a:p>
        </p:txBody>
      </p:sp>
      <p:sp>
        <p:nvSpPr>
          <p:cNvPr id="106" name="Arrow 2"/>
          <p:cNvSpPr/>
          <p:nvPr/>
        </p:nvSpPr>
        <p:spPr>
          <a:xfrm>
            <a:off x="5895840" y="4010000"/>
            <a:ext cx="400000" cy="200000"/>
          </a:xfrm>
          <a:prstGeom prst="leftRightArrow">
            <a:avLst/>
          </a:prstGeom>
          <a:solidFill>
            <a:srgbClr val="D99A2B"/>
          </a:solidFill>
          <a:ln>
            <a:noFill/>
          </a:ln>
        </p:spPr>
        <p:txBody>
          <a:bodyPr wrap="square" lIns="137160" tIns="91440" rIns="137160" bIns="91440" rtlCol="0" anchor="ctr"/>
          <a:lstStyle/>
          <a:p>
            <a:endParaRPr lang="en-US"/>
          </a:p>
        </p:txBody>
      </p:sp>
      <p:sp>
        <p:nvSpPr>
          <p:cNvPr id="107" name="Box Body 3"/>
          <p:cNvSpPr/>
          <p:nvPr/>
        </p:nvSpPr>
        <p:spPr>
          <a:xfrm>
            <a:off x="6345840" y="2860000"/>
            <a:ext cx="23986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5DDE8"/>
            </a:solidFill>
          </a:ln>
        </p:spPr>
        <p:txBody>
          <a:bodyPr wrap="square" lIns="137160" tIns="91440" rIns="137160" bIns="9144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authentication</a:t>
            </a: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Match-scoring engine</a:t>
            </a: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verification</a:t>
            </a:r>
          </a:p>
        </p:txBody>
      </p:sp>
      <p:sp>
        <p:nvSpPr>
          <p:cNvPr id="108" name="Box Header 3"/>
          <p:cNvSpPr/>
          <p:nvPr/>
        </p:nvSpPr>
        <p:spPr>
          <a:xfrm>
            <a:off x="6345840" y="2000000"/>
            <a:ext cx="2398600" cy="760000"/>
          </a:xfrm>
          <a:prstGeom prst="roundRect">
            <a:avLst>
              <a:gd name="adj" fmla="val 14000"/>
            </a:avLst>
          </a:prstGeom>
          <a:solidFill>
            <a:srgbClr val="1F3A5F"/>
          </a:solidFill>
          <a:ln>
            <a:noFill/>
          </a:ln>
        </p:spPr>
        <p:txBody>
          <a:bodyPr wrap="square" lIns="137160" tIns="91440" rIns="137160" bIns="9144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D5D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REST APIs</a:t>
            </a:r>
          </a:p>
        </p:txBody>
      </p:sp>
      <p:sp>
        <p:nvSpPr>
          <p:cNvPr id="109" name="Arrow 3"/>
          <p:cNvSpPr/>
          <p:nvPr/>
        </p:nvSpPr>
        <p:spPr>
          <a:xfrm>
            <a:off x="8794440" y="4010000"/>
            <a:ext cx="400000" cy="200000"/>
          </a:xfrm>
          <a:prstGeom prst="leftRightArrow">
            <a:avLst/>
          </a:prstGeom>
          <a:solidFill>
            <a:srgbClr val="D99A2B"/>
          </a:solidFill>
          <a:ln>
            <a:noFill/>
          </a:ln>
        </p:spPr>
        <p:txBody>
          <a:bodyPr wrap="square" lIns="137160" tIns="91440" rIns="137160" bIns="91440" rtlCol="0" anchor="ctr"/>
          <a:lstStyle/>
          <a:p>
            <a:endParaRPr lang="en-US"/>
          </a:p>
        </p:txBody>
      </p:sp>
      <p:sp>
        <p:nvSpPr>
          <p:cNvPr id="110" name="Box Body 4"/>
          <p:cNvSpPr/>
          <p:nvPr/>
        </p:nvSpPr>
        <p:spPr>
          <a:xfrm>
            <a:off x="9244440" y="2860000"/>
            <a:ext cx="23986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5DDE8"/>
            </a:solidFill>
          </a:ln>
        </p:spPr>
        <p:txBody>
          <a:bodyPr wrap="square" lIns="137160" tIns="91440" rIns="137160" bIns="9144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accounts</a:t>
            </a: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Lost &amp; found items</a:t>
            </a: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Claims and item status</a:t>
            </a:r>
          </a:p>
        </p:txBody>
      </p:sp>
      <p:sp>
        <p:nvSpPr>
          <p:cNvPr id="111" name="Box Header 4"/>
          <p:cNvSpPr/>
          <p:nvPr/>
        </p:nvSpPr>
        <p:spPr>
          <a:xfrm>
            <a:off x="9244440" y="2000000"/>
            <a:ext cx="2398600" cy="760000"/>
          </a:xfrm>
          <a:prstGeom prst="roundRect">
            <a:avLst>
              <a:gd name="adj" fmla="val 14000"/>
            </a:avLst>
          </a:prstGeom>
          <a:solidFill>
            <a:srgbClr val="1F3A5F"/>
          </a:solidFill>
          <a:ln>
            <a:noFill/>
          </a:ln>
        </p:spPr>
        <p:txBody>
          <a:bodyPr wrap="square" lIns="137160" tIns="91440" rIns="137160" bIns="9144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D5D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</a:p>
        </p:txBody>
      </p:sp>
      <p:pic>
        <p:nvPicPr>
          <p:cNvPr id="36" name="Image 0" descr="/home/claude/lostfound-ppt/assets/klh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09005"/>
            <a:ext cx="868680" cy="2649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/>
        </p:spPr>
      </p:sp>
      <p:pic>
        <p:nvPicPr>
          <p:cNvPr id="4" name="Image 0" descr="/home/claude/lostfound-ppt/assets/klh_logo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228" y="822960"/>
            <a:ext cx="3063240" cy="1107012"/>
          </a:xfrm>
          <a:prstGeom prst="rect">
            <a:avLst/>
          </a:prstGeom>
        </p:spPr>
      </p:pic>
      <p:sp>
        <p:nvSpPr>
          <p:cNvPr id="7" name="Text Thank You"/>
          <p:cNvSpPr txBox="1"/>
          <p:nvPr/>
        </p:nvSpPr>
        <p:spPr>
          <a:xfrm>
            <a:off x="1595848" y="2377440"/>
            <a:ext cx="900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8" name="Text Subtitle"/>
          <p:cNvSpPr txBox="1"/>
          <p:nvPr/>
        </p:nvSpPr>
        <p:spPr>
          <a:xfrm>
            <a:off x="1595848" y="3520440"/>
            <a:ext cx="900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9E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and feedback are welcome</a:t>
            </a:r>
            <a:endParaRPr lang="en-US" sz="1600" dirty="0"/>
          </a:p>
        </p:txBody>
      </p:sp>
      <p:sp>
        <p:nvSpPr>
          <p:cNvPr id="9" name="Shape Team Badge"/>
          <p:cNvSpPr/>
          <p:nvPr/>
        </p:nvSpPr>
        <p:spPr>
          <a:xfrm>
            <a:off x="4724548" y="441960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D99A2B"/>
          </a:solidFill>
          <a:ln/>
        </p:spPr>
      </p:sp>
      <p:sp>
        <p:nvSpPr>
          <p:cNvPr id="10" name="Text Team Badge"/>
          <p:cNvSpPr txBox="1"/>
          <p:nvPr/>
        </p:nvSpPr>
        <p:spPr>
          <a:xfrm>
            <a:off x="4724548" y="4419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TEAM</a:t>
            </a:r>
            <a:endParaRPr lang="en-US" sz="1400" dirty="0"/>
          </a:p>
        </p:txBody>
      </p:sp>
      <p:sp>
        <p:nvSpPr>
          <p:cNvPr id="11" name="Text Team 1"/>
          <p:cNvSpPr txBox="1"/>
          <p:nvPr/>
        </p:nvSpPr>
        <p:spPr>
          <a:xfrm>
            <a:off x="1595848" y="5029200"/>
            <a:ext cx="90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Kavi Krishna  </a:t>
            </a:r>
            <a:r>
              <a:rPr lang="en-US" sz="1450" i="1" dirty="0">
                <a:solidFill>
                  <a:srgbClr val="D9E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 Hemanth  •  Prajwal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1480"/>
            <a:ext cx="11094415" cy="749808"/>
          </a:xfrm>
          <a:prstGeom prst="roundRect">
            <a:avLst>
              <a:gd name="adj" fmla="val 9756"/>
            </a:avLst>
          </a:prstGeom>
          <a:solidFill>
            <a:srgbClr val="1F3A5F"/>
          </a:solidFill>
          <a:ln/>
          <a:effectLst>
            <a:outerShdw blurRad="76200" dist="38100" dir="5400000" algn="bl" rotWithShape="0">
              <a:srgbClr val="3A0C0D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508760"/>
            <a:ext cx="10546080" cy="4846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searchable platform that replaces notice boards and scattered social media groups.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reporting of lost and found items through location-tagged reports on an interactive campus map.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chances of recovery through automatic match suggestions based on category, description, date and location.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and verified handover of items through admin-side claim verification.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manual effort for staff, with a scalable Node.js / MongoDB system for the whole campus.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pic>
        <p:nvPicPr>
          <p:cNvPr id="12" name="Image 0" descr="/home/claude/lostfound-ppt/assets/klh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09005"/>
            <a:ext cx="868680" cy="26494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1480"/>
            <a:ext cx="11094415" cy="749808"/>
          </a:xfrm>
          <a:prstGeom prst="roundRect">
            <a:avLst>
              <a:gd name="adj" fmla="val 9756"/>
            </a:avLst>
          </a:prstGeom>
          <a:solidFill>
            <a:srgbClr val="1F3A5F"/>
          </a:solidFill>
          <a:ln/>
          <a:effectLst>
            <a:outerShdw blurRad="76200" dist="38100" dir="5400000" algn="bl" rotWithShape="0">
              <a:srgbClr val="3A0C0D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1463040"/>
            <a:ext cx="10546080" cy="390000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1780000"/>
            <a:ext cx="9815000" cy="3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2000"/>
              </a:spcAft>
              <a:buSzPct val="100000"/>
              <a:buChar char="●"/>
            </a:pPr>
            <a:r>
              <a:rPr lang="en-US" sz="20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 one centralized platform for reporting lost and found items</a:t>
            </a:r>
            <a:endParaRPr lang="en-US" sz="2000" dirty="0"/>
          </a:p>
          <a:p>
            <a:pPr marL="203200" indent="-203200">
              <a:spcAft>
                <a:spcPts val="2000"/>
              </a:spcAft>
              <a:buSzPct val="100000"/>
              <a:buChar char="●"/>
            </a:pPr>
            <a:r>
              <a:rPr lang="en-US" sz="20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location-based tracking with an interactive campus map</a:t>
            </a:r>
            <a:endParaRPr lang="en-US" sz="2000" dirty="0"/>
          </a:p>
          <a:p>
            <a:pPr marL="203200" indent="-203200">
              <a:spcAft>
                <a:spcPts val="2000"/>
              </a:spcAft>
              <a:buSzPct val="100000"/>
              <a:buChar char="●"/>
            </a:pPr>
            <a:r>
              <a:rPr lang="en-US" sz="20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Automatically suggest matches from category, description, date and location</a:t>
            </a:r>
            <a:endParaRPr lang="en-US" sz="2000" dirty="0"/>
          </a:p>
          <a:p>
            <a:pPr marL="203200" indent="-203200">
              <a:spcAft>
                <a:spcPts val="2000"/>
              </a:spcAft>
              <a:buSzPct val="100000"/>
              <a:buChar char="●"/>
            </a:pPr>
            <a:r>
              <a:rPr lang="en-US" sz="20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secure claim submission with admin-side verification</a:t>
            </a:r>
            <a:endParaRPr lang="en-US" sz="2000" dirty="0"/>
          </a:p>
          <a:p>
            <a:pPr marL="203200" indent="-203200">
              <a:spcAft>
                <a:spcPts val="2000"/>
              </a:spcAft>
              <a:buSzPct val="100000"/>
              <a:buChar char="●"/>
            </a:pPr>
            <a:r>
              <a:rPr lang="en-US" sz="2000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recovery rates while reducing manual staff effort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pic>
        <p:nvPicPr>
          <p:cNvPr id="12" name="Image 0" descr="/home/claude/lostfound-ppt/assets/klh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09005"/>
            <a:ext cx="868680" cy="2649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983</Words>
  <Application>Microsoft Office PowerPoint</Application>
  <PresentationFormat>Widescreen</PresentationFormat>
  <Paragraphs>147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POLOJU PRAJWAL</cp:lastModifiedBy>
  <cp:revision>2</cp:revision>
  <dcterms:created xsi:type="dcterms:W3CDTF">2026-08-26T03:47:38Z</dcterms:created>
  <dcterms:modified xsi:type="dcterms:W3CDTF">2026-08-26T05:34:59Z</dcterms:modified>
</cp:coreProperties>
</file>